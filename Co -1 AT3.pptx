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5" Type="http://schemas.openxmlformats.org/officeDocument/2006/relationships/custom-properties" Target="docProps/custom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758" r:id="rId2"/>
  </p:sldMasterIdLst>
  <p:notesMasterIdLst>
    <p:notesMasterId r:id="rId11"/>
  </p:notesMasterIdLst>
  <p:sldIdLst>
    <p:sldId id="256" r:id="rId3"/>
    <p:sldId id="257" r:id="rId4"/>
    <p:sldId id="258" r:id="rId5"/>
    <p:sldId id="260" r:id="rId6"/>
    <p:sldId id="261" r:id="rId7"/>
    <p:sldId id="262" r:id="rId8"/>
    <p:sldId id="264" r:id="rId9"/>
    <p:sldId id="265" r:id="rId1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52" autoAdjust="0"/>
    <p:restoredTop sz="94660"/>
  </p:normalViewPr>
  <p:slideViewPr>
    <p:cSldViewPr snapToGrid="0">
      <p:cViewPr varScale="1">
        <p:scale>
          <a:sx n="78" d="100"/>
          <a:sy n="78" d="100"/>
        </p:scale>
        <p:origin x="956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 /><Relationship Id="rId13" Type="http://schemas.openxmlformats.org/officeDocument/2006/relationships/viewProps" Target="viewProps.xml" /><Relationship Id="rId3" Type="http://schemas.openxmlformats.org/officeDocument/2006/relationships/slide" Target="slides/slide1.xml" /><Relationship Id="rId7" Type="http://schemas.openxmlformats.org/officeDocument/2006/relationships/slide" Target="slides/slide5.xml" /><Relationship Id="rId12" Type="http://schemas.openxmlformats.org/officeDocument/2006/relationships/presProps" Target="presProps.xml" /><Relationship Id="rId2" Type="http://schemas.openxmlformats.org/officeDocument/2006/relationships/slideMaster" Target="slideMasters/slideMaster2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4.xml" /><Relationship Id="rId11" Type="http://schemas.openxmlformats.org/officeDocument/2006/relationships/notesMaster" Target="notesMasters/notesMaster1.xml" /><Relationship Id="rId5" Type="http://schemas.openxmlformats.org/officeDocument/2006/relationships/slide" Target="slides/slide3.xml" /><Relationship Id="rId15" Type="http://schemas.openxmlformats.org/officeDocument/2006/relationships/tableStyles" Target="tableStyles.xml" /><Relationship Id="rId10" Type="http://schemas.openxmlformats.org/officeDocument/2006/relationships/slide" Target="slides/slide8.xml" /><Relationship Id="rId4" Type="http://schemas.openxmlformats.org/officeDocument/2006/relationships/slide" Target="slides/slide2.xml" /><Relationship Id="rId9" Type="http://schemas.openxmlformats.org/officeDocument/2006/relationships/slide" Target="slides/slide7.xml" /><Relationship Id="rId14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6788c09994_2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g36788c09994_2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183675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6788c09994_2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g36788c09994_2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535486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6788c09994_2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g36788c09994_2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6788c09994_2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36788c09994_2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6788c09994_2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g36788c09994_2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6788c09994_2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4" name="Google Shape;164;g36788c09994_2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6788c09994_2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g36788c09994_2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300" y="1803400"/>
            <a:ext cx="5825202" cy="1234727"/>
          </a:xfrm>
        </p:spPr>
        <p:txBody>
          <a:bodyPr anchor="b">
            <a:noAutofit/>
          </a:bodyPr>
          <a:lstStyle>
            <a:lvl1pPr algn="r">
              <a:defRPr sz="405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300" y="3038125"/>
            <a:ext cx="5825202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0904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39794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84315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28482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66923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00341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2415280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0346" y="386193"/>
            <a:ext cx="3385156" cy="41448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797" indent="0">
              <a:buNone/>
              <a:defRPr sz="1050"/>
            </a:lvl2pPr>
            <a:lvl3pPr marL="685595" indent="0">
              <a:buNone/>
              <a:defRPr sz="900"/>
            </a:lvl3pPr>
            <a:lvl4pPr marL="1028392" indent="0">
              <a:buNone/>
              <a:defRPr sz="750"/>
            </a:lvl4pPr>
            <a:lvl5pPr marL="1371188" indent="0">
              <a:buNone/>
              <a:defRPr sz="750"/>
            </a:lvl5pPr>
            <a:lvl6pPr marL="1713986" indent="0">
              <a:buNone/>
              <a:defRPr sz="750"/>
            </a:lvl6pPr>
            <a:lvl7pPr marL="2056783" indent="0">
              <a:buNone/>
              <a:defRPr sz="750"/>
            </a:lvl7pPr>
            <a:lvl8pPr marL="2399580" indent="0">
              <a:buNone/>
              <a:defRPr sz="750"/>
            </a:lvl8pPr>
            <a:lvl9pPr marL="2742377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685284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457200"/>
            <a:ext cx="6447501" cy="288428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5726322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836533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1050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58684571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4784928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71722524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0083154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447605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457200"/>
            <a:ext cx="978557" cy="3938588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0343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 /><Relationship Id="rId13" Type="http://schemas.openxmlformats.org/officeDocument/2006/relationships/slideLayout" Target="../slideLayouts/slideLayout24.xml" /><Relationship Id="rId3" Type="http://schemas.openxmlformats.org/officeDocument/2006/relationships/slideLayout" Target="../slideLayouts/slideLayout14.xml" /><Relationship Id="rId7" Type="http://schemas.openxmlformats.org/officeDocument/2006/relationships/slideLayout" Target="../slideLayouts/slideLayout18.xml" /><Relationship Id="rId12" Type="http://schemas.openxmlformats.org/officeDocument/2006/relationships/slideLayout" Target="../slideLayouts/slideLayout23.xml" /><Relationship Id="rId17" Type="http://schemas.openxmlformats.org/officeDocument/2006/relationships/theme" Target="../theme/theme2.xml" /><Relationship Id="rId2" Type="http://schemas.openxmlformats.org/officeDocument/2006/relationships/slideLayout" Target="../slideLayouts/slideLayout13.xml" /><Relationship Id="rId16" Type="http://schemas.openxmlformats.org/officeDocument/2006/relationships/slideLayout" Target="../slideLayouts/slideLayout27.xml" /><Relationship Id="rId1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7.xml" /><Relationship Id="rId11" Type="http://schemas.openxmlformats.org/officeDocument/2006/relationships/slideLayout" Target="../slideLayouts/slideLayout22.xml" /><Relationship Id="rId5" Type="http://schemas.openxmlformats.org/officeDocument/2006/relationships/slideLayout" Target="../slideLayouts/slideLayout16.xml" /><Relationship Id="rId15" Type="http://schemas.openxmlformats.org/officeDocument/2006/relationships/slideLayout" Target="../slideLayouts/slideLayout26.xml" /><Relationship Id="rId10" Type="http://schemas.openxmlformats.org/officeDocument/2006/relationships/slideLayout" Target="../slideLayouts/slideLayout21.xml" /><Relationship Id="rId4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20.xml" /><Relationship Id="rId14" Type="http://schemas.openxmlformats.org/officeDocument/2006/relationships/slideLayout" Target="../slideLayouts/slideLayout25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3742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  <p:sldLayoutId id="2147483770" r:id="rId12"/>
    <p:sldLayoutId id="2147483771" r:id="rId13"/>
    <p:sldLayoutId id="2147483772" r:id="rId14"/>
    <p:sldLayoutId id="2147483773" r:id="rId15"/>
    <p:sldLayoutId id="2147483774" r:id="rId16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2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3.xml" /><Relationship Id="rId4" Type="http://schemas.openxmlformats.org/officeDocument/2006/relationships/image" Target="../media/image3.jpeg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3.xml" /><Relationship Id="rId4" Type="http://schemas.openxmlformats.org/officeDocument/2006/relationships/image" Target="../media/image2.pn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3.xml" /><Relationship Id="rId4" Type="http://schemas.openxmlformats.org/officeDocument/2006/relationships/image" Target="../media/image2.pn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3.xml" /><Relationship Id="rId4" Type="http://schemas.openxmlformats.org/officeDocument/2006/relationships/image" Target="../media/image2.pn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3.xml" /><Relationship Id="rId4" Type="http://schemas.openxmlformats.org/officeDocument/2006/relationships/image" Target="../media/image2.pn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3.xml" /><Relationship Id="rId4" Type="http://schemas.openxmlformats.org/officeDocument/2006/relationships/image" Target="../media/image2.png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 /><Relationship Id="rId1" Type="http://schemas.openxmlformats.org/officeDocument/2006/relationships/slideLayout" Target="../slideLayouts/slideLayout1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>
            <a:spLocks noGrp="1"/>
          </p:cNvSpPr>
          <p:nvPr>
            <p:ph type="ctrTitle"/>
          </p:nvPr>
        </p:nvSpPr>
        <p:spPr>
          <a:xfrm>
            <a:off x="297697" y="1196340"/>
            <a:ext cx="8309516" cy="801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>
              <a:spcBef>
                <a:spcPts val="0"/>
              </a:spcBef>
              <a:buClr>
                <a:schemeClr val="dk1"/>
              </a:buClr>
              <a:buSzPct val="100000"/>
            </a:pPr>
            <a:r>
              <a:rPr lang="en-IN" sz="3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System Integration Challenges in Real-Time Applications: A Case-Based Explanation</a:t>
            </a:r>
            <a:endParaRPr lang="en-GB" sz="27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0" name="Google Shape;130;p25"/>
          <p:cNvSpPr txBox="1">
            <a:spLocks noGrp="1"/>
          </p:cNvSpPr>
          <p:nvPr>
            <p:ph type="subTitle" idx="1"/>
          </p:nvPr>
        </p:nvSpPr>
        <p:spPr>
          <a:xfrm>
            <a:off x="166256" y="2571749"/>
            <a:ext cx="8332766" cy="2271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lnSpc>
                <a:spcPct val="121000"/>
              </a:lnSpc>
              <a:spcBef>
                <a:spcPts val="0"/>
              </a:spcBef>
              <a:buClr>
                <a:schemeClr val="dk1"/>
              </a:buClr>
              <a:buSzPts val="275"/>
            </a:pPr>
            <a:r>
              <a:rPr lang="en-GB" sz="20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                                              </a:t>
            </a:r>
          </a:p>
          <a:p>
            <a:pPr marL="0" lvl="0" indent="0" algn="ct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 panose="020B0604020202020204"/>
              <a:buNone/>
            </a:pPr>
            <a:r>
              <a:rPr lang="en-GB" sz="20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                                                                                                </a:t>
            </a:r>
            <a:r>
              <a:rPr lang="en-GB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Presented by                                                         </a:t>
            </a:r>
          </a:p>
          <a:p>
            <a:pPr marL="0" lvl="0" indent="0" algn="ct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 panose="020B0604020202020204"/>
              <a:buNone/>
            </a:pPr>
            <a:r>
              <a:rPr lang="en-GB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                                                                                                          M.HARINI</a:t>
            </a:r>
          </a:p>
          <a:p>
            <a:pPr marL="0" lvl="0" indent="0" algn="ct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 panose="020B0604020202020204"/>
              <a:buNone/>
            </a:pPr>
            <a:r>
              <a:rPr lang="en-GB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                                                                                                         192521245</a:t>
            </a:r>
          </a:p>
          <a:p>
            <a:pPr marL="0" lvl="0" indent="0" algn="ct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 panose="020B0604020202020204"/>
              <a:buNone/>
            </a:pPr>
            <a:r>
              <a:rPr lang="en-GB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                                       </a:t>
            </a:r>
          </a:p>
          <a:p>
            <a:pPr marL="0" lvl="0" indent="0" algn="ctr" rtl="0">
              <a:spcBef>
                <a:spcPts val="545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endParaRPr lang="en-IN" sz="2000" dirty="0">
              <a:solidFill>
                <a:srgbClr val="898989"/>
              </a:solidFill>
              <a:highlight>
                <a:srgbClr val="FFFFFF"/>
              </a:highlight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</p:txBody>
      </p:sp>
      <p:pic>
        <p:nvPicPr>
          <p:cNvPr id="131" name="Google Shape;131;p25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66255" y="-1"/>
            <a:ext cx="8633361" cy="1053193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EDECA69-04A5-5C29-9BBA-B170B607B5D0}"/>
              </a:ext>
            </a:extLst>
          </p:cNvPr>
          <p:cNvSpPr txBox="1"/>
          <p:nvPr/>
        </p:nvSpPr>
        <p:spPr>
          <a:xfrm>
            <a:off x="367393" y="3516482"/>
            <a:ext cx="44495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name:ITA-0504 Computer Vision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 </a:t>
            </a:r>
            <a:r>
              <a:rPr lang="en-MY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Dr.P</a:t>
            </a:r>
            <a:r>
              <a:rPr lang="en-MY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Mathivanan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4645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 txBox="1">
            <a:spLocks noGrp="1"/>
          </p:cNvSpPr>
          <p:nvPr>
            <p:ph type="title"/>
          </p:nvPr>
        </p:nvSpPr>
        <p:spPr>
          <a:xfrm>
            <a:off x="973365" y="168084"/>
            <a:ext cx="6447501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</a:pPr>
            <a:r>
              <a:rPr lang="en-GB" sz="2800" dirty="0">
                <a:solidFill>
                  <a:schemeClr val="dk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Introduction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6BDCFE-2F3D-D902-17E4-7904F8F415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9387" y="205978"/>
            <a:ext cx="1190625" cy="990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3EBCDF4-CB6E-CA68-9899-4F12550C49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929" y="205978"/>
            <a:ext cx="993548" cy="990599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B5C2A023-315F-FBD4-C363-77E6A56DA0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40871" y="1497947"/>
            <a:ext cx="7576459" cy="24416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Integration is the process of connecting different hardware, software, networks, and databases to function as a single system.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Applications are systems that must process data and provide responses immediately or within a specified time limit.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Traffic Management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 Monitoring Systems</a:t>
            </a:r>
          </a:p>
        </p:txBody>
      </p:sp>
    </p:spTree>
    <p:extLst>
      <p:ext uri="{BB962C8B-B14F-4D97-AF65-F5344CB8AC3E}">
        <p14:creationId xmlns:p14="http://schemas.microsoft.com/office/powerpoint/2010/main" val="3002209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7"/>
          <p:cNvSpPr txBox="1">
            <a:spLocks noGrp="1"/>
          </p:cNvSpPr>
          <p:nvPr>
            <p:ph type="title"/>
          </p:nvPr>
        </p:nvSpPr>
        <p:spPr>
          <a:xfrm>
            <a:off x="326572" y="0"/>
            <a:ext cx="7592786" cy="1133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</a:pPr>
            <a:r>
              <a:rPr lang="en-GB" sz="2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 panose="020F0502020204030204"/>
              </a:rPr>
              <a:t>System Integration Challenges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4E9277E-DA9A-DE6E-E3E1-38B68ADC5BB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26571" y="1040715"/>
            <a:ext cx="8592279" cy="4257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applications face several integration challenges: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Data Synchronization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from multiple sources must remain consistent.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Delays can lead to incorrect decisions. 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Communication Latency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delays affect system performance.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response times are critical. 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Compatibility Issues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devices and software use different protocols.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becomes complex</a:t>
            </a:r>
          </a:p>
          <a:p>
            <a:pPr algn="just"/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C18F94-1435-9AAF-4A9E-50675C7C24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149" y="219077"/>
            <a:ext cx="844372" cy="8380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11A4AAD-8DFD-6129-FF9D-A19240D497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8226" y="142784"/>
            <a:ext cx="1190625" cy="990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9"/>
          <p:cNvSpPr txBox="1">
            <a:spLocks noGrp="1"/>
          </p:cNvSpPr>
          <p:nvPr>
            <p:ph type="title"/>
          </p:nvPr>
        </p:nvSpPr>
        <p:spPr>
          <a:xfrm>
            <a:off x="996042" y="359229"/>
            <a:ext cx="7266213" cy="1347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>
              <a:buSzPts val="4400"/>
            </a:pPr>
            <a:r>
              <a:rPr lang="en-IN" sz="3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 Study – Smart Traffic Management System</a:t>
            </a:r>
            <a:br>
              <a:rPr lang="en-US" b="1" dirty="0"/>
            </a:br>
            <a:endParaRPr lang="en-GB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2637B64-459B-977F-AB12-6588694F7A4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42900" y="1729454"/>
            <a:ext cx="5878285" cy="25442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Smart Traffic Management System integrates: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cameras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Roadside sensors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signals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servers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F97387D-7E1A-09DB-F2EE-BC177472DE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73" y="248840"/>
            <a:ext cx="727755" cy="7715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D766E4F-D035-4CD7-2679-2ECEECC101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4702" y="0"/>
            <a:ext cx="1190625" cy="990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0"/>
          <p:cNvSpPr txBox="1">
            <a:spLocks noGrp="1"/>
          </p:cNvSpPr>
          <p:nvPr>
            <p:ph type="title"/>
          </p:nvPr>
        </p:nvSpPr>
        <p:spPr>
          <a:xfrm>
            <a:off x="857250" y="278060"/>
            <a:ext cx="7829550" cy="1167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SzPts val="4400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endParaRPr lang="en-GB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Calibri" panose="020F0502020204030204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B6F6E3C-0BED-F92E-E72B-B58B7D795BF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4157" y="1573700"/>
            <a:ext cx="4269921" cy="25355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 collect traffic data. </a:t>
            </a:r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Cameras monitor vehicle movement. </a:t>
            </a:r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sent to a central server.</a:t>
            </a:r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traffic conditions. </a:t>
            </a:r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signals are adjusted automatically. </a:t>
            </a:r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Drivers receive real-time traffic updates.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B76CD62-C8CE-F690-D6B1-8DDB234AF1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596" y="248840"/>
            <a:ext cx="689654" cy="7715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C756BD3-E2D4-DB1A-5B30-A638047452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4702" y="0"/>
            <a:ext cx="1190625" cy="990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1"/>
          <p:cNvSpPr txBox="1">
            <a:spLocks noGrp="1"/>
          </p:cNvSpPr>
          <p:nvPr>
            <p:ph type="title"/>
          </p:nvPr>
        </p:nvSpPr>
        <p:spPr>
          <a:xfrm>
            <a:off x="600076" y="1"/>
            <a:ext cx="7111092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4400"/>
            </a:pPr>
            <a:r>
              <a:rPr lang="en-GB" sz="2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 panose="020F0502020204030204"/>
              </a:rPr>
              <a:t>     </a:t>
            </a:r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Observed in the Case Study</a:t>
            </a:r>
            <a:endParaRPr lang="en-GB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Calibri" panose="020F0502020204030204"/>
            </a:endParaRPr>
          </a:p>
        </p:txBody>
      </p:sp>
      <p:sp>
        <p:nvSpPr>
          <p:cNvPr id="167" name="Google Shape;167;p31"/>
          <p:cNvSpPr txBox="1">
            <a:spLocks noGrp="1"/>
          </p:cNvSpPr>
          <p:nvPr>
            <p:ph idx="1"/>
          </p:nvPr>
        </p:nvSpPr>
        <p:spPr>
          <a:xfrm>
            <a:off x="391886" y="587829"/>
            <a:ext cx="7972424" cy="3946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lang="en-US" sz="2000" dirty="0"/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Delays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Slow data transmission can delay signal adjustments. 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 Interoperability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 and cameras from different manufacturers may not communicate effectively. 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Data Volume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Thousands of vehicles generate massive real-time data. 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Reliability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or software failures can disrupt traffic control. 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Threats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Unauthorized access may manipulate traffic information. </a:t>
            </a:r>
          </a:p>
          <a:p>
            <a:endParaRPr lang="en-US" altLang="en-US" sz="2000" dirty="0">
              <a:latin typeface="Times New Roman" panose="02020603050405020304" charset="0"/>
              <a:ea typeface="Times New Roman" panose="02020603050405020304"/>
              <a:cs typeface="Times New Roman" panose="02020603050405020304" charset="0"/>
              <a:sym typeface="Times New Roman" panose="02020603050405020304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1A5730-6C7C-CE29-028E-9BCB6A01DB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929" y="372410"/>
            <a:ext cx="710294" cy="88106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AD48D46-194F-3632-0DC0-E3CEC5CE80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9357" y="262872"/>
            <a:ext cx="1052508" cy="990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6417129" cy="1157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</a:pPr>
            <a:r>
              <a:rPr lang="en-GB" sz="2800" dirty="0">
                <a:solidFill>
                  <a:schemeClr val="dk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Conclusion</a:t>
            </a:r>
            <a:r>
              <a:rPr lang="en-GB" sz="4400" dirty="0">
                <a:solidFill>
                  <a:schemeClr val="dk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45C9A75-A7F6-F1DD-6470-5216897989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1" y="1397901"/>
            <a:ext cx="6906986" cy="2951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integration enables different hardware and software components to work together efficiently in real-time applications. Challenges such as latency, data synchronization, compatibility, and security can affect system performance. The Smart Traffic Management System case study demonstrates how integration issues impact real-time decision-making. Using standard protocols, edge computing, and strong security measures improves system reliability and efficiency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CCC1405-62C7-FB21-3159-9CCBAB7128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944" y="299848"/>
            <a:ext cx="898070" cy="89673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46D5521-3370-F8A1-CC48-BAB8633E06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0209" y="205978"/>
            <a:ext cx="1190625" cy="990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FD12C7A-37F9-BB2E-667E-6D847952F1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36915" y="689882"/>
            <a:ext cx="4686300" cy="3437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007952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293</TotalTime>
  <Words>332</Words>
  <Application>Microsoft Office PowerPoint</Application>
  <PresentationFormat>On-screen Show (16:9)</PresentationFormat>
  <Paragraphs>53</Paragraphs>
  <Slides>8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Simple Light</vt:lpstr>
      <vt:lpstr>Facet</vt:lpstr>
      <vt:lpstr>Analyze System Integration Challenges in Real-Time Applications: A Case-Based Explanation</vt:lpstr>
      <vt:lpstr>Introduction</vt:lpstr>
      <vt:lpstr>System Integration Challenges</vt:lpstr>
      <vt:lpstr>Case Study – Smart Traffic Management System </vt:lpstr>
      <vt:lpstr>                Working Process</vt:lpstr>
      <vt:lpstr>     Challenges Observed in the Case Study</vt:lpstr>
      <vt:lpstr>Conclusion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Project – Zeroth Review</dc:title>
  <dc:creator>P TEJASRI</dc:creator>
  <cp:lastModifiedBy>919342401789</cp:lastModifiedBy>
  <cp:revision>9</cp:revision>
  <dcterms:created xsi:type="dcterms:W3CDTF">2025-06-23T04:53:00Z</dcterms:created>
  <dcterms:modified xsi:type="dcterms:W3CDTF">2026-07-25T05:32:20Z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9F5EFAC4D14546BEBF1CCDCACC980581_13</vt:lpwstr>
  </property>
  <property fmtid="{D5CDD505-2E9C-101B-9397-08002B2CF9AE}" pid="3" name="KSOProductBuildVer">
    <vt:lpwstr>1033-12.2.0.21546</vt:lpwstr>
  </property>
</Properties>
</file>